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Data Architecture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données pour l'IA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926080"/>
            <a:ext cx="14630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BAH  ·  Jedha Bootcamp Bac+5 Bloc 2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FinTech · Détection de fraude en temps réel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64008" cy="18288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de transactions/jour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 en temps réel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+ OLAP + NoSQL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3225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GDPR / PCI-DSS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371600"/>
            <a:ext cx="64008" cy="18288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719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6 couches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+ batch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1214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intégré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3225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uniquement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6517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6E5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71600"/>
            <a:ext cx="64008" cy="18288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444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17190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5 003 transactions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920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0.9995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212140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0.8649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232257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live HF Spaces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383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académique : Debezium → CDC poller Python · Databricks → DuckDB · Airflow → GitHub Actions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free-tier · WSL2/Ubuntu · Python 3.11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41148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64008" cy="7132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NeonDB (PostgreSQL 16)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993C1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40280"/>
            <a:ext cx="64008" cy="713232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5877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poller Python + Kafka Confluent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108960"/>
            <a:ext cx="41148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85FA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108960"/>
            <a:ext cx="64008" cy="7132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00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456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M0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77640"/>
            <a:ext cx="41148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977640"/>
            <a:ext cx="64008" cy="71323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69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325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— Parquet partitionné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371600"/>
            <a:ext cx="41148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185FA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371600"/>
            <a:ext cx="64008" cy="7132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4630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1719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— star schema natif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240280"/>
            <a:ext cx="41148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993C1D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240280"/>
            <a:ext cx="64008" cy="713232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25877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cron + triggers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108960"/>
            <a:ext cx="41148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854F0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108960"/>
            <a:ext cx="64008" cy="71323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200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34564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+ MLflow (NeonDB + S3)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3977640"/>
            <a:ext cx="411480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3B6D1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977640"/>
            <a:ext cx="64008" cy="71323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069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4325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HuggingFace Spaces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couches · streaming + batch · ML intégré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0" y="960120"/>
            <a:ext cx="6400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F5E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960120"/>
            <a:ext cx="64008" cy="457200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0149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synthétiques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0149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Faker · 5 003 transactions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0" cy="91440"/>
          </a:xfrm>
          <a:prstGeom prst="line">
            <a:avLst/>
          </a:prstGeom>
          <a:noFill/>
          <a:ln w="12700">
            <a:solidFill>
              <a:srgbClr val="5F5E5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371600" y="1508760"/>
            <a:ext cx="6400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534A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508760"/>
            <a:ext cx="64008" cy="4572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5636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 — NeonDB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5636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3NF · ACID · RBAC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965960"/>
            <a:ext cx="0" cy="91440"/>
          </a:xfrm>
          <a:prstGeom prst="line">
            <a:avLst/>
          </a:prstGeom>
          <a:noFill/>
          <a:ln w="12700">
            <a:solidFill>
              <a:srgbClr val="534AB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371600" y="2057400"/>
            <a:ext cx="6400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3C1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2057400"/>
            <a:ext cx="64008" cy="45720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21122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+ GitHub Actions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11226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10s · batch horaire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2514600"/>
            <a:ext cx="0" cy="91440"/>
          </a:xfrm>
          <a:prstGeom prst="line">
            <a:avLst/>
          </a:prstGeom>
          <a:noFill/>
          <a:ln w="12700">
            <a:solidFill>
              <a:srgbClr val="993C1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2606040"/>
            <a:ext cx="64008" cy="4572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26609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AWS S3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66090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fraud · Parquet partitionné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063240"/>
            <a:ext cx="0" cy="91440"/>
          </a:xfrm>
          <a:prstGeom prst="line">
            <a:avLst/>
          </a:prstGeom>
          <a:noFill/>
          <a:ln w="12700">
            <a:solidFill>
              <a:srgbClr val="0F6E5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371600" y="3154680"/>
            <a:ext cx="6400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85FA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3154680"/>
            <a:ext cx="64008" cy="4572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2095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DuckDB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2095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logs · OLAP star schema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611880"/>
            <a:ext cx="0" cy="91440"/>
          </a:xfrm>
          <a:prstGeom prst="line">
            <a:avLst/>
          </a:prstGeom>
          <a:noFill/>
          <a:ln w="12700">
            <a:solidFill>
              <a:srgbClr val="185FA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371600" y="3703320"/>
            <a:ext cx="6400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3703320"/>
            <a:ext cx="64008" cy="45720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08760" y="37581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MLflow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75818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· ROC-AUC 0.9995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4160520"/>
            <a:ext cx="0" cy="91440"/>
          </a:xfrm>
          <a:prstGeom prst="line">
            <a:avLst/>
          </a:prstGeom>
          <a:noFill/>
          <a:ln w="12700">
            <a:solidFill>
              <a:srgbClr val="854F0B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371600" y="4251960"/>
            <a:ext cx="64008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6D1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71600" y="4251960"/>
            <a:ext cx="64008" cy="4572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508760" y="43068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HF Spaces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30682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jury live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OLTP — schéma 3NF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NeonDB PostgreSQL 16 · ACID · index optimisés · RBAC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0" y="868680"/>
            <a:ext cx="2926080" cy="2926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0" y="868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1161288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1612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UUID PK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362456"/>
            <a:ext cx="292608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3624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FK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563624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636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merchant_id FK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764792"/>
            <a:ext cx="292608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7647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payment_method_id FK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965960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9659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currency_code FK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2167128"/>
            <a:ext cx="292608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1671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NUMERIC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2368296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3682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VARCHAR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2569464"/>
            <a:ext cx="292608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5694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fraud_score NUMERIC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2770632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7706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TIMESTAMPTZ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868680"/>
            <a:ext cx="292608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868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1161288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1612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UUID PK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1362456"/>
            <a:ext cx="292608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3624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email_hash VARCHAR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1563624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15636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country_code FK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1764792"/>
            <a:ext cx="292608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17647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1965960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19659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926080"/>
            <a:ext cx="292608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926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3218688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18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UUID PK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3419856"/>
            <a:ext cx="292608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4198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VARCHAR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621024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6210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country_code FK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822192"/>
            <a:ext cx="292608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822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VARCHAR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868680"/>
            <a:ext cx="2926080" cy="29260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8686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1161288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11612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UUID PK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17920" y="1362456"/>
            <a:ext cx="292608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13624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transaction_id FK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17920" y="1563624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15636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NUMERIC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17920" y="1764792"/>
            <a:ext cx="292608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9360" y="17647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VARCHAR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17920" y="2926080"/>
            <a:ext cx="2926080" cy="292608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2926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217920" y="3218688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9360" y="3218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BIGINT PK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17920" y="3419856"/>
            <a:ext cx="292608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09360" y="34198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table_name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217920" y="3621024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9360" y="36210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217920" y="3822192"/>
            <a:ext cx="292608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0" y="38221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record_id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217920" y="4023360"/>
            <a:ext cx="292608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40233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changed_at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OLAP — star schema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· S3 Parquet · 3 pré-agrégations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0" y="1645920"/>
            <a:ext cx="2743200" cy="20116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91840" y="2011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transaction_key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2212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customer_key FK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91840" y="241401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merchant_key FK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91840" y="2615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FK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28163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payment_method_key FK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3017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· currency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32186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fraud_score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3419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is_fraud_suspected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868680"/>
            <a:ext cx="274320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868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161288"/>
            <a:ext cx="2743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161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customer_key PK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362456"/>
            <a:ext cx="274320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3624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email_hash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563624"/>
            <a:ext cx="2743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5636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country_code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764792"/>
            <a:ext cx="274320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7647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customer_since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274320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926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dim_merchant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218688"/>
            <a:ext cx="2743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186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merchant_key PK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419856"/>
            <a:ext cx="274320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419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merchant_name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621024"/>
            <a:ext cx="2743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6210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merchant_country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822192"/>
            <a:ext cx="274320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8221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merchant_category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868680"/>
            <a:ext cx="274320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868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1161288"/>
            <a:ext cx="2743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161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PK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17920" y="1362456"/>
            <a:ext cx="274320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13624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· month · day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1563624"/>
            <a:ext cx="2743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5636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 · quarter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217920" y="2926080"/>
            <a:ext cx="274320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29260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dim_payment_method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17920" y="3218688"/>
            <a:ext cx="2743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32186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payment_method_key PK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17920" y="3419856"/>
            <a:ext cx="2743200" cy="201168"/>
          </a:xfrm>
          <a:prstGeom prst="rect">
            <a:avLst/>
          </a:prstGeom>
          <a:solidFill>
            <a:srgbClr val="F4F6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4198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method_name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Pré-agrégations : agg_daily_revenue · agg_merchant_performance · agg_fraud_by_country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NoSQL — MongoDB Atlas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flexible · index composites · streaming Kafka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32918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transactions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id: UUID,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amount: Float,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currency_code: String,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fraud_score: Float,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status: String,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device_type: String,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614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ip_country: String,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9626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created_at: ISODate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16382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46120" y="100584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993C1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005840"/>
            <a:ext cx="64008" cy="329184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fraud_alerts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1353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id: UUID,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1755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amount: Float,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19568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fraud_score: Float,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21579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status: String,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flagged_at: ISODate,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2560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currency_code: String,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27614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ip_country: String,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96265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005840"/>
            <a:ext cx="26517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854F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005840"/>
            <a:ext cx="64008" cy="329184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logs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1353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type: 'fraud_alert',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1755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transaction_id: UUID,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19568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fraud_score: Float,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21579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amount: Float,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23591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currency: String,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2560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logged_at: ISODate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27614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: { id: 1 } unique · { customer_id: 1 } · { merchant_id: 1 } · { fraud_score: -1 } · { created_at: -1 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architecture de données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temps réel + batch orchestré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92024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NeonDB OLTP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transactionnelle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1463040"/>
            <a:ext cx="4114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100584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993C1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31720" y="1005840"/>
            <a:ext cx="1920240" cy="54864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poller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14264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WAL 10s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1463040"/>
            <a:ext cx="411480" cy="0"/>
          </a:xfrm>
          <a:prstGeom prst="line">
            <a:avLst/>
          </a:prstGeom>
          <a:noFill/>
          <a:ln w="19050">
            <a:solidFill>
              <a:srgbClr val="993C1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00584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6E5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1005840"/>
            <a:ext cx="192024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14264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streaming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411480" cy="0"/>
          </a:xfrm>
          <a:prstGeom prst="line">
            <a:avLst/>
          </a:prstGeom>
          <a:noFill/>
          <a:ln w="19050">
            <a:solidFill>
              <a:srgbClr val="0F6E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00584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1005840"/>
            <a:ext cx="192024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115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14264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+ features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37744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993C1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377440"/>
            <a:ext cx="1920240" cy="54864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27980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horaire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94560" y="2834640"/>
            <a:ext cx="411480" cy="0"/>
          </a:xfrm>
          <a:prstGeom prst="line">
            <a:avLst/>
          </a:prstGeom>
          <a:noFill/>
          <a:ln w="19050">
            <a:solidFill>
              <a:srgbClr val="993C1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237744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6E5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331720" y="2377440"/>
            <a:ext cx="192024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423160" y="27980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partitionné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51960" y="2834640"/>
            <a:ext cx="411480" cy="0"/>
          </a:xfrm>
          <a:prstGeom prst="line">
            <a:avLst/>
          </a:prstGeom>
          <a:noFill/>
          <a:ln w="19050">
            <a:solidFill>
              <a:srgbClr val="0F6E5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237744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89120" y="2377440"/>
            <a:ext cx="1920240" cy="5486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0560" y="27980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OLAP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2834640"/>
            <a:ext cx="41148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520" y="237744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54F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46520" y="2377440"/>
            <a:ext cx="192024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2487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MLflow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27980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hebdo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(temps réel)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432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(orchestré)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657600"/>
            <a:ext cx="85953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3B6D11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HuggingFace Spaces VoxUp/stripe-demo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· Revenue Analytics · Fraud by Country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conformité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PCI-DSS · CCPA · encryption · RBAC · audit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15544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SSE (Server-Side Encryption)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en transit (NeonDB + MongoDB + Kafka)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Pseudonymisation email → SHA-256 (GDPR)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40233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005840"/>
            <a:ext cx="64008" cy="1554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53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NeonDB : stripe_reader · stripe_writer · stripe_admin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15544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AWS : least privilege S3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7556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: rôle readWrite dédié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40233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993C1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43200"/>
            <a:ext cx="64008" cy="155448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conformité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090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audit_logs : INSERT/UPDATE/DELETE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291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topics retention : 7 jours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4930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: droit à l'oubli via email_hash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743200"/>
            <a:ext cx="40233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54F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2743200"/>
            <a:ext cx="64008" cy="155448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090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: tracking modèle + drift detection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291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: alertes sur failure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34930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logs : fraud_alerts en temps réel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ML — détection de fraude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· MLflow · features déterministes · serving temps réel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0.9995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0.8649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00584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E5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0.9412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8056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1005840"/>
            <a:ext cx="19202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993C1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3796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26517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194560"/>
            <a:ext cx="64008" cy="237744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(14)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· amount_log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743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is_high_amount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944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device_mobile/desktop/tablet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1455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status_success/failed/refunded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3467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· day_of_week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54787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 · is_night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749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high_risk_country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194560"/>
            <a:ext cx="26517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534AB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194560"/>
            <a:ext cx="64008" cy="23774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DuckDB/S3 (5 003 tx)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83280" y="2743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80/20 stratifié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2944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 balanced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83280" y="31455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5-fold ROC-AUC : 0.9968±0.004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0" y="33467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: stripe-fraud-detector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2194560"/>
            <a:ext cx="265176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854F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194560"/>
            <a:ext cx="64008" cy="237744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267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63640" y="254203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registry @latest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2743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predict_single() : temps réel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29443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predict_batch() : par lot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314553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: retrain hebdo lundi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33467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: démo jury live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SQL clés — OLTP &amp; OLAP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NeonDB PostgreSQL + DuckDB star schema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2926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suspectes (fraud_score &gt; 0.7)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t.id, t.amount, t.fraud_score, m.name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 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merchants m ON t.merchant_id = m.id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t.fraud_score &gt; 0.7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fraud_score DESC LIMIT 50;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74320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fraude par pays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298448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71600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ip_country,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ROUND(100.0 * SUM(CASE WHEN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fraud_score &gt; 0.7 THEN 1 END)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COUNT(*), 2) AS fraud_rate_pct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transactions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ip_country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fraud_rate_pct DESC;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743200" cy="29260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journalier (DuckDB/S3)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298448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371600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date_key, currency_code,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SUM(amount) AS total_revenue,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SUM(CASE WHEN is_fraud_suspected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THEN 1 END) AS nb_fraud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fact_transactions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date_key, currency_code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date_key DESC;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NoSQL — MongoDB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alerts · logs · agrégations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292608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 récentes (score &gt; 0.8)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db.fraud_alerts.find(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fraud_score: { $gt: 0.8 }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1, amount: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fraud_score: 1,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flagged_at: 1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).sort(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flagged_at: -1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).limit(10);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743200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Agrégation par pays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298448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71600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db.transactions.aggregate([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$group: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_id: "$ip_country",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total: { $sum: 1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avg_score: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$avg: "$fraud_score"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$sort: { avg_score: -1 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743200" cy="292608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0058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fraude dernier jour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298448"/>
            <a:ext cx="274320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371600"/>
            <a:ext cx="2560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db.logs.find({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"fraud_alert",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logged_at: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$gte: new Date(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Date.now()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- 24*60*60*1000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}).sort(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logged_at: -1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Streamlit live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Spaces · VoxUp/stripe-demo · 3 pages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993C1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292608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transaction temps réel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: montant, device, pays, statut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: fraud_proba, risk_level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568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MLflow @latest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579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 risk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005840"/>
            <a:ext cx="64008" cy="29260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Analytics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353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: total tx, revenue, avg, fraud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par devise (bar chart)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1755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marchands par volume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9568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DuckDB / S3 Parquet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1579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5 003 transactions analysées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6E5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05840"/>
            <a:ext cx="64008" cy="29260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078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by Country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3533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fraude par pays (%)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63640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+ carte choropleth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75564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Alpha-2 → Alpha-3 mapping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9568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pays analysés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1579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interactive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114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: https://huggingface.co/spaces/VoxUp/stripe-demo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64008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002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OLTP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463040" y="16276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NeonDB PostgreSQL — schéma 3NF, ACID, RBAC, 5 003 transactions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112264"/>
            <a:ext cx="64008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1226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463040" y="213969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poller Python → Kafka Confluent — streaming 10s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624328"/>
            <a:ext cx="64008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243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63040" y="2651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— logs, fraud alerts, features ML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36392"/>
            <a:ext cx="64008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363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63040" y="316382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star schema — 4 dims, 3 agrégations, requêtes S3 directes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48456"/>
            <a:ext cx="64008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6484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63040" y="36758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— ROC-AUC 0.9995, F1 0.8649, serving MLflow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640080" cy="347472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1605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463040" y="41879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3 workflows automatisés, déploiement HF Spaces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Ibrahim BAH  ·  Jedha Bootcamp Bac+5 Bloc 2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Stripe Data Architecture — Jedha Bac+5 Bloc 2</dc:title>
  <dc:subject>PptxGenJS Presentation</dc:subject>
  <dc:creator>Ibrahim BAH</dc:creator>
  <cp:lastModifiedBy>Ibrahim BAH</cp:lastModifiedBy>
  <cp:revision>1</cp:revision>
  <dcterms:created xsi:type="dcterms:W3CDTF">2026-06-06T20:49:47Z</dcterms:created>
  <dcterms:modified xsi:type="dcterms:W3CDTF">2026-06-06T20:49:47Z</dcterms:modified>
</cp:coreProperties>
</file>